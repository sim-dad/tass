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91440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6400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spc="-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</a:t>
            </a:r>
            <a:pPr algn="l" indent="0" marL="0">
              <a:buNone/>
            </a:pPr>
            <a:r>
              <a:rPr lang="en-US" sz="12000" b="1" spc="-300" kern="0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pPr algn="l" indent="0" marL="0">
              <a:buNone/>
            </a:pPr>
            <a:r>
              <a:rPr lang="en-US" sz="12000" b="1" spc="-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SS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457200" y="26060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5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ANALYSIS FOR SOCIAL SCIENTISTS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264408"/>
            <a:ext cx="9144000" cy="43891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331927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5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47472" y="3264408"/>
            <a:ext cx="1600200" cy="43891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331927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057400" y="331927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7132320" y="1188720"/>
            <a:ext cx="1600200" cy="2926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122529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2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PRE-RELEASE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7132320" y="1572768"/>
            <a:ext cx="1600200" cy="292608"/>
          </a:xfrm>
          <a:prstGeom prst="rect">
            <a:avLst/>
          </a:prstGeom>
          <a:solidFill>
            <a:srgbClr val="0A0A0A"/>
          </a:solidFill>
          <a:ln w="12700">
            <a:solidFill>
              <a:srgbClr val="5C5C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160020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15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 — SUMMER 2026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0" y="5010912"/>
            <a:ext cx="91440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038344"/>
            <a:ext cx="9144000" cy="105156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5038344"/>
            <a:ext cx="832104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15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SIM DAD LLC  |  SIMDADLLC.COM/TASS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23544"/>
            <a:ext cx="91440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TASS EXISTS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50292" cy="47548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389888"/>
            <a:ext cx="8211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spc="-3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GAP IN THE TOOLBOX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11480" y="1956816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social scientists want to run text analysis. Almost none of them want to learn Python.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8412480" cy="239572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2441448"/>
            <a:ext cx="2767584" cy="2359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578608"/>
            <a:ext cx="2493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LIWC IS THE DEFAULT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66928" y="2862072"/>
            <a:ext cx="2401824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926080"/>
            <a:ext cx="24932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its dictionaries are opaque, its statistics are thin, and its $89+/year price tag is hard to justify — especially when you can't verify what's inside the black box.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88208" y="2441448"/>
            <a:ext cx="2767584" cy="2359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71088" y="2578608"/>
            <a:ext cx="2493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&amp; R ARE POWERFUL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71088" y="2862072"/>
            <a:ext cx="2401824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71088" y="2926080"/>
            <a:ext cx="24932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the learning curve is a real barrier that filters out researchers on method alone, not merit. The tools shouldn't require a second dissertation.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92368" y="2441448"/>
            <a:ext cx="2767584" cy="2359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5248" y="2578608"/>
            <a:ext cx="2493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CORPORA ARE STANDARD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175248" y="2862072"/>
            <a:ext cx="2401824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5248" y="2926080"/>
            <a:ext cx="24932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100k-entry datasets are now routine in the field. Most GUI tools choke at scale. Researchers are left choosing between power and accessibility.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079492"/>
            <a:ext cx="9144000" cy="685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91032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SIMDADLLC.COM/TASS  |  GITHUB.COM/SIM-DAD/TASS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23544"/>
            <a:ext cx="91440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TASS 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50292" cy="4572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371600"/>
            <a:ext cx="8211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spc="-3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TASS WILL DO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11480" y="190195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native Windows desktop application. No Python, R, or terminal required. All analysis runs entirely on your machine — no data ever leaves your device.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8412480" cy="245059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4904" y="2395728"/>
            <a:ext cx="418795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2551176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77824" y="2551176"/>
            <a:ext cx="3593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IMPORT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39496" y="2852928"/>
            <a:ext cx="3913632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9496" y="290779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CSV, TXT, XLSX with batch processing. A column-mapping wizard designates text, group, and metadata columns. Rows are previewed read-only before analysis begins.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81144" y="2395728"/>
            <a:ext cx="418795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2551176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084064" y="2551176"/>
            <a:ext cx="3593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ENGINE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4745736" y="2852928"/>
            <a:ext cx="3913632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745736" y="290779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Dictionary scoring at word, entry, and document level. Multi-threaded processing across all CPU cores with real-time progress and time estimates.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74904" y="3621024"/>
            <a:ext cx="418795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3776472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77824" y="3776472"/>
            <a:ext cx="3593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COMPARISONS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539496" y="4078224"/>
            <a:ext cx="3913632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39496" y="413308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t-test, Mann-Whitney U, one-way ANOVA, Cohen's d, and eta-squared — computed and visualized per category, per group.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581144" y="3621024"/>
            <a:ext cx="418795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3776472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084064" y="3776472"/>
            <a:ext cx="3593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4745736" y="4078224"/>
            <a:ext cx="3913632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4745736" y="413308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CSV, Excel (multi-sheet), 300-DPI PNG/SVG. Every export includes a pre-formatted APA citation block — methods documented from the moment you finish.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0" y="5079492"/>
            <a:ext cx="9144000" cy="685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411480" y="491032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SIMDADLLC.COM/TASS  |  GITHUB.COM/SIM-DAD/TASS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23544"/>
            <a:ext cx="91440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TASS VS. LIWC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TASS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35024"/>
            <a:ext cx="8412480" cy="34747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362456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2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681728" y="1362456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784848" y="1362456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5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LIWC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65760" y="1682496"/>
            <a:ext cx="8412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682496"/>
            <a:ext cx="4096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coding required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0" y="168249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75120" y="168249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084832"/>
            <a:ext cx="8412480" cy="402336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084832"/>
            <a:ext cx="4096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dataset support (100k+ entries)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0" y="208483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675120" y="208483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487168"/>
            <a:ext cx="8412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487168"/>
            <a:ext cx="4096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Open, transparent dictionaries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0" y="248716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675120" y="248716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2889504"/>
            <a:ext cx="8412480" cy="402336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2889504"/>
            <a:ext cx="4096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group comparisons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0" y="288950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675120" y="288950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3291840"/>
            <a:ext cx="8412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3291840"/>
            <a:ext cx="4096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Publication-quality visualizations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0" y="329184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675120" y="329184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3694176"/>
            <a:ext cx="8412480" cy="402336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3694176"/>
            <a:ext cx="4096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dictionary import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0" y="369417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675120" y="369417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4096512"/>
            <a:ext cx="8412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" y="4096512"/>
            <a:ext cx="4096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Offline, local analysis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0" y="409651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675120" y="409651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5760" y="4498848"/>
            <a:ext cx="8412480" cy="402336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" y="4498848"/>
            <a:ext cx="4096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license price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0" y="449884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$49 / YEAR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675120" y="449884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$89+ / YEAR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5079492"/>
            <a:ext cx="9144000" cy="685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491032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SIMDADLLC.COM/TASS  |  GITHUB.COM/SIM-DAD/TASS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23544"/>
            <a:ext cx="91440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T-LEX PROJECT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DICTIONARY LIBRARY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1353312"/>
            <a:ext cx="50292" cy="4572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353312"/>
            <a:ext cx="8211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spc="-3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 LEXICONS, ORIGINAL RESEARCH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11480" y="1883664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original T-Lex lexicons — each independently citable, freely available for academic and non-commercial use, and expected to yield one or more peer-reviewed publications.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322576"/>
            <a:ext cx="8412480" cy="25146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4904" y="2331720"/>
            <a:ext cx="1383792" cy="819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359152"/>
            <a:ext cx="129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38912" y="2734056"/>
            <a:ext cx="1292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spc="200" kern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v1.1</a:t>
            </a:r>
            <a:endParaRPr lang="en-US" sz="550" dirty="0"/>
          </a:p>
        </p:txBody>
      </p:sp>
      <p:sp>
        <p:nvSpPr>
          <p:cNvPr id="13" name="Text 11"/>
          <p:cNvSpPr/>
          <p:nvPr/>
        </p:nvSpPr>
        <p:spPr>
          <a:xfrm>
            <a:off x="438912" y="2871216"/>
            <a:ext cx="1292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5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AFFECTIVE NORMS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1776984" y="2331720"/>
            <a:ext cx="1383792" cy="819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40992" y="2359152"/>
            <a:ext cx="129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840992" y="2734056"/>
            <a:ext cx="1292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spc="200" kern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v1.1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840992" y="2871216"/>
            <a:ext cx="1292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5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DISCRETE EMOTIONS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3179064" y="2331720"/>
            <a:ext cx="1383792" cy="819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3072" y="2359152"/>
            <a:ext cx="129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243072" y="2734056"/>
            <a:ext cx="1292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spc="200" kern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v1.1</a:t>
            </a:r>
            <a:endParaRPr lang="en-US" sz="550" dirty="0"/>
          </a:p>
        </p:txBody>
      </p:sp>
      <p:sp>
        <p:nvSpPr>
          <p:cNvPr id="21" name="Text 19"/>
          <p:cNvSpPr/>
          <p:nvPr/>
        </p:nvSpPr>
        <p:spPr>
          <a:xfrm>
            <a:off x="3243072" y="2871216"/>
            <a:ext cx="1292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5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PSYCHOSOCIAL PROCESS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4581144" y="2331720"/>
            <a:ext cx="1383792" cy="819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45152" y="2359152"/>
            <a:ext cx="129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645152" y="2734056"/>
            <a:ext cx="1292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spc="200" kern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v1.1</a:t>
            </a:r>
            <a:endParaRPr lang="en-US" sz="550" dirty="0"/>
          </a:p>
        </p:txBody>
      </p:sp>
      <p:sp>
        <p:nvSpPr>
          <p:cNvPr id="25" name="Text 23"/>
          <p:cNvSpPr/>
          <p:nvPr/>
        </p:nvSpPr>
        <p:spPr>
          <a:xfrm>
            <a:off x="4645152" y="2871216"/>
            <a:ext cx="1292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5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OPINION &amp; STANCE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5983224" y="2331720"/>
            <a:ext cx="1383792" cy="819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47232" y="2359152"/>
            <a:ext cx="129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047232" y="2734056"/>
            <a:ext cx="1292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spc="200" kern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v1.1</a:t>
            </a:r>
            <a:endParaRPr lang="en-US" sz="550" dirty="0"/>
          </a:p>
        </p:txBody>
      </p:sp>
      <p:sp>
        <p:nvSpPr>
          <p:cNvPr id="29" name="Text 27"/>
          <p:cNvSpPr/>
          <p:nvPr/>
        </p:nvSpPr>
        <p:spPr>
          <a:xfrm>
            <a:off x="6047232" y="2871216"/>
            <a:ext cx="1292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5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&amp; STATUS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7385304" y="2331720"/>
            <a:ext cx="1383792" cy="819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49312" y="2359152"/>
            <a:ext cx="129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449312" y="2734056"/>
            <a:ext cx="1292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spc="200" kern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v1.1</a:t>
            </a:r>
            <a:endParaRPr lang="en-US" sz="550" dirty="0"/>
          </a:p>
        </p:txBody>
      </p:sp>
      <p:sp>
        <p:nvSpPr>
          <p:cNvPr id="33" name="Text 31"/>
          <p:cNvSpPr/>
          <p:nvPr/>
        </p:nvSpPr>
        <p:spPr>
          <a:xfrm>
            <a:off x="7449312" y="2871216"/>
            <a:ext cx="1292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5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HEDGING &amp; EPISTEMIC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374904" y="3169920"/>
            <a:ext cx="1383792" cy="819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" y="3197352"/>
            <a:ext cx="129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438912" y="3572256"/>
            <a:ext cx="1292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spc="200" kern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v1.1</a:t>
            </a:r>
            <a:endParaRPr lang="en-US" sz="550" dirty="0"/>
          </a:p>
        </p:txBody>
      </p:sp>
      <p:sp>
        <p:nvSpPr>
          <p:cNvPr id="37" name="Text 35"/>
          <p:cNvSpPr/>
          <p:nvPr/>
        </p:nvSpPr>
        <p:spPr>
          <a:xfrm>
            <a:off x="438912" y="3709416"/>
            <a:ext cx="1292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5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LANGUAGE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1776984" y="3169920"/>
            <a:ext cx="1383792" cy="819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40992" y="3197352"/>
            <a:ext cx="129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1840992" y="3572256"/>
            <a:ext cx="1292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spc="200" kern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</a:t>
            </a:r>
            <a:endParaRPr lang="en-US" sz="550" dirty="0"/>
          </a:p>
        </p:txBody>
      </p:sp>
      <p:sp>
        <p:nvSpPr>
          <p:cNvPr id="41" name="Text 39"/>
          <p:cNvSpPr/>
          <p:nvPr/>
        </p:nvSpPr>
        <p:spPr>
          <a:xfrm>
            <a:off x="1840992" y="3709416"/>
            <a:ext cx="1292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5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 &amp; COMMUNION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3179064" y="3169920"/>
            <a:ext cx="1383792" cy="819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43072" y="3197352"/>
            <a:ext cx="129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3243072" y="3572256"/>
            <a:ext cx="1292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spc="200" kern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</a:t>
            </a:r>
            <a:endParaRPr lang="en-US" sz="550" dirty="0"/>
          </a:p>
        </p:txBody>
      </p:sp>
      <p:sp>
        <p:nvSpPr>
          <p:cNvPr id="45" name="Text 43"/>
          <p:cNvSpPr/>
          <p:nvPr/>
        </p:nvSpPr>
        <p:spPr>
          <a:xfrm>
            <a:off x="3243072" y="3709416"/>
            <a:ext cx="1292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5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 &amp; TEMPORAL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4581144" y="3169920"/>
            <a:ext cx="1383792" cy="819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45152" y="3197352"/>
            <a:ext cx="129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4645152" y="3572256"/>
            <a:ext cx="1292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spc="200" kern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</a:t>
            </a:r>
            <a:endParaRPr lang="en-US" sz="550" dirty="0"/>
          </a:p>
        </p:txBody>
      </p:sp>
      <p:sp>
        <p:nvSpPr>
          <p:cNvPr id="49" name="Text 47"/>
          <p:cNvSpPr/>
          <p:nvPr/>
        </p:nvSpPr>
        <p:spPr>
          <a:xfrm>
            <a:off x="4645152" y="3709416"/>
            <a:ext cx="1292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5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COLLECTIVE IDENTITY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5983224" y="3169920"/>
            <a:ext cx="1383792" cy="819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47232" y="3197352"/>
            <a:ext cx="129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6047232" y="3572256"/>
            <a:ext cx="1292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spc="200" kern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</a:t>
            </a:r>
            <a:endParaRPr lang="en-US" sz="550" dirty="0"/>
          </a:p>
        </p:txBody>
      </p:sp>
      <p:sp>
        <p:nvSpPr>
          <p:cNvPr id="53" name="Text 51"/>
          <p:cNvSpPr/>
          <p:nvPr/>
        </p:nvSpPr>
        <p:spPr>
          <a:xfrm>
            <a:off x="6047232" y="3709416"/>
            <a:ext cx="1292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5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FORMALITY &amp; REGISTER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7385304" y="3169920"/>
            <a:ext cx="1383792" cy="819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49312" y="3197352"/>
            <a:ext cx="129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7449312" y="3572256"/>
            <a:ext cx="1292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spc="200" kern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</a:t>
            </a:r>
            <a:endParaRPr lang="en-US" sz="550" dirty="0"/>
          </a:p>
        </p:txBody>
      </p:sp>
      <p:sp>
        <p:nvSpPr>
          <p:cNvPr id="57" name="Text 55"/>
          <p:cNvSpPr/>
          <p:nvPr/>
        </p:nvSpPr>
        <p:spPr>
          <a:xfrm>
            <a:off x="7449312" y="3709416"/>
            <a:ext cx="1292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5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POLITICAL LANGUAGE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374904" y="4008120"/>
            <a:ext cx="1383792" cy="819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8912" y="4035552"/>
            <a:ext cx="129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438912" y="4410456"/>
            <a:ext cx="1292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spc="200" kern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</a:t>
            </a:r>
            <a:endParaRPr lang="en-US" sz="550" dirty="0"/>
          </a:p>
        </p:txBody>
      </p:sp>
      <p:sp>
        <p:nvSpPr>
          <p:cNvPr id="61" name="Text 59"/>
          <p:cNvSpPr/>
          <p:nvPr/>
        </p:nvSpPr>
        <p:spPr>
          <a:xfrm>
            <a:off x="438912" y="4547616"/>
            <a:ext cx="1292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5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&amp; ILLNESS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1776984" y="4008120"/>
            <a:ext cx="1383792" cy="819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840992" y="4035552"/>
            <a:ext cx="129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2200" dirty="0"/>
          </a:p>
        </p:txBody>
      </p:sp>
      <p:sp>
        <p:nvSpPr>
          <p:cNvPr id="64" name="Text 62"/>
          <p:cNvSpPr/>
          <p:nvPr/>
        </p:nvSpPr>
        <p:spPr>
          <a:xfrm>
            <a:off x="1840992" y="4410456"/>
            <a:ext cx="1292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spc="200" kern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</a:t>
            </a:r>
            <a:endParaRPr lang="en-US" sz="550" dirty="0"/>
          </a:p>
        </p:txBody>
      </p:sp>
      <p:sp>
        <p:nvSpPr>
          <p:cNvPr id="65" name="Text 63"/>
          <p:cNvSpPr/>
          <p:nvPr/>
        </p:nvSpPr>
        <p:spPr>
          <a:xfrm>
            <a:off x="1840992" y="4547616"/>
            <a:ext cx="1292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5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DECEPTION &amp; TRUST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3179064" y="4008120"/>
            <a:ext cx="1383792" cy="819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43072" y="4035552"/>
            <a:ext cx="129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2200" dirty="0"/>
          </a:p>
        </p:txBody>
      </p:sp>
      <p:sp>
        <p:nvSpPr>
          <p:cNvPr id="68" name="Text 66"/>
          <p:cNvSpPr/>
          <p:nvPr/>
        </p:nvSpPr>
        <p:spPr>
          <a:xfrm>
            <a:off x="3243072" y="4410456"/>
            <a:ext cx="1292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spc="200" kern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</a:t>
            </a:r>
            <a:endParaRPr lang="en-US" sz="550" dirty="0"/>
          </a:p>
        </p:txBody>
      </p:sp>
      <p:sp>
        <p:nvSpPr>
          <p:cNvPr id="69" name="Text 67"/>
          <p:cNvSpPr/>
          <p:nvPr/>
        </p:nvSpPr>
        <p:spPr>
          <a:xfrm>
            <a:off x="3243072" y="4547616"/>
            <a:ext cx="1292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5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CRISIS &amp; UNCERTAINTY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4581144" y="4008120"/>
            <a:ext cx="1383792" cy="819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645152" y="4035552"/>
            <a:ext cx="129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</a:t>
            </a:r>
            <a:endParaRPr lang="en-US" sz="2200" dirty="0"/>
          </a:p>
        </p:txBody>
      </p:sp>
      <p:sp>
        <p:nvSpPr>
          <p:cNvPr id="72" name="Text 70"/>
          <p:cNvSpPr/>
          <p:nvPr/>
        </p:nvSpPr>
        <p:spPr>
          <a:xfrm>
            <a:off x="4645152" y="4410456"/>
            <a:ext cx="1292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spc="200" kern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</a:t>
            </a:r>
            <a:endParaRPr lang="en-US" sz="550" dirty="0"/>
          </a:p>
        </p:txBody>
      </p:sp>
      <p:sp>
        <p:nvSpPr>
          <p:cNvPr id="73" name="Text 71"/>
          <p:cNvSpPr/>
          <p:nvPr/>
        </p:nvSpPr>
        <p:spPr>
          <a:xfrm>
            <a:off x="4645152" y="4547616"/>
            <a:ext cx="1292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5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SENTIMENT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5983224" y="4008120"/>
            <a:ext cx="1383792" cy="819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047232" y="4035552"/>
            <a:ext cx="129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</a:t>
            </a:r>
            <a:endParaRPr lang="en-US" sz="2200" dirty="0"/>
          </a:p>
        </p:txBody>
      </p:sp>
      <p:sp>
        <p:nvSpPr>
          <p:cNvPr id="76" name="Text 74"/>
          <p:cNvSpPr/>
          <p:nvPr/>
        </p:nvSpPr>
        <p:spPr>
          <a:xfrm>
            <a:off x="6047232" y="4410456"/>
            <a:ext cx="1292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spc="200" kern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</a:t>
            </a:r>
            <a:endParaRPr lang="en-US" sz="550" dirty="0"/>
          </a:p>
        </p:txBody>
      </p:sp>
      <p:sp>
        <p:nvSpPr>
          <p:cNvPr id="77" name="Text 75"/>
          <p:cNvSpPr/>
          <p:nvPr/>
        </p:nvSpPr>
        <p:spPr>
          <a:xfrm>
            <a:off x="6047232" y="4547616"/>
            <a:ext cx="1292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5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REGISTER</a:t>
            </a:r>
            <a:endParaRPr lang="en-US" sz="650" dirty="0"/>
          </a:p>
        </p:txBody>
      </p:sp>
      <p:sp>
        <p:nvSpPr>
          <p:cNvPr id="78" name="Shape 76"/>
          <p:cNvSpPr/>
          <p:nvPr/>
        </p:nvSpPr>
        <p:spPr>
          <a:xfrm>
            <a:off x="7385304" y="4008120"/>
            <a:ext cx="1383792" cy="819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449312" y="4035552"/>
            <a:ext cx="129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</a:t>
            </a:r>
            <a:endParaRPr lang="en-US" sz="2200" dirty="0"/>
          </a:p>
        </p:txBody>
      </p:sp>
      <p:sp>
        <p:nvSpPr>
          <p:cNvPr id="80" name="Text 78"/>
          <p:cNvSpPr/>
          <p:nvPr/>
        </p:nvSpPr>
        <p:spPr>
          <a:xfrm>
            <a:off x="7449312" y="4410456"/>
            <a:ext cx="1292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spc="200" kern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</a:t>
            </a:r>
            <a:endParaRPr lang="en-US" sz="550" dirty="0"/>
          </a:p>
        </p:txBody>
      </p:sp>
      <p:sp>
        <p:nvSpPr>
          <p:cNvPr id="81" name="Text 79"/>
          <p:cNvSpPr/>
          <p:nvPr/>
        </p:nvSpPr>
        <p:spPr>
          <a:xfrm>
            <a:off x="7449312" y="4547616"/>
            <a:ext cx="1292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5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INTERPERSONAL DOMINANCE</a:t>
            </a:r>
            <a:endParaRPr lang="en-US" sz="650" dirty="0"/>
          </a:p>
        </p:txBody>
      </p:sp>
      <p:sp>
        <p:nvSpPr>
          <p:cNvPr id="82" name="Shape 80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0" y="5079492"/>
            <a:ext cx="9144000" cy="685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11480" y="491032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SIMDADLLC.COM/TASS  |  GITHUB.COM/SIM-DAD/TASS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23544"/>
            <a:ext cx="91440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COLLABORATION INVOLVES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T-LEX PROJECT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1353312"/>
            <a:ext cx="50292" cy="4572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353312"/>
            <a:ext cx="8211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spc="-3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 THE T-LEX DICTIONARY LIBRARY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92024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Reviewing and validating AI-generated word lists against published measurement frameworks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404872"/>
            <a:ext cx="393192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45059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45059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Re-scoring or re-categorizing items that require domain expertise or judgment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935224"/>
            <a:ext cx="393192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980944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—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298094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Supplementing seed lists with terms from your area of specialization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465576"/>
            <a:ext cx="393192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511296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—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351129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Providing feedback on category definitions and construct validity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995928"/>
            <a:ext cx="393192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1874520"/>
            <a:ext cx="3977640" cy="29260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99339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&amp; LICENSING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937760" y="2267712"/>
            <a:ext cx="361188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340864"/>
            <a:ext cx="3611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Contributors who make substantive contributions will be offered co-authorship on associated dictionary papers and are named in all published dictionary metadata and documentation.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37760" y="3456432"/>
            <a:ext cx="3611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TASS-native dictionaries are freely available for academic and non-commercial research. Contributors may discuss commercial licensing arrangements directly with SIM DAD LLC.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079492"/>
            <a:ext cx="9144000" cy="685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91032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SIMDADLLC.COM/TASS  |  GITHUB.COM/SIM-DAD/TASS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23544"/>
            <a:ext cx="91440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WE'RE LOOKING FOR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T-LEX PROJECT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1353312"/>
            <a:ext cx="50292" cy="4572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353312"/>
            <a:ext cx="8211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spc="-3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RESEARCHERS, STUDENTS &amp; JOURNALISTS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11480" y="1901952"/>
            <a:ext cx="228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91109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SCIENTISTS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85800" y="217627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expertise in one or more target constructs — psychology, political science, communication, sociology, linguistics.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706624"/>
            <a:ext cx="393192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761488"/>
            <a:ext cx="228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—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27706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GRADUATE &amp; EARLY-CAREER RESEARCHERS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303580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Doctoral students and postdocs interested in computational methods, lexicon development, and peer-reviewed output.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3566160"/>
            <a:ext cx="393192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621024"/>
            <a:ext cx="228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363016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JOURNALISTS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5800" y="389534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Practitioners who work with large text corpora and need rigorous, citable analytical methods.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4425696"/>
            <a:ext cx="393192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90195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COMMITMENT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754880" y="2176272"/>
            <a:ext cx="397764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240280"/>
            <a:ext cx="228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—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2240280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— you may contribute to a single dictionary or several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2679192"/>
            <a:ext cx="397764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715768"/>
            <a:ext cx="228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—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2715768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tasks are asynchronous and self-paced via shared documents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3154680"/>
            <a:ext cx="397764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191256"/>
            <a:ext cx="228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—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3191256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minimum hours required; credit is proportional to contribution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3630168"/>
            <a:ext cx="397764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7490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PROCESS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54880" y="4023360"/>
            <a:ext cx="397764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40873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0" y="4087368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generate a seed lexicon grounded in published theoretical frameworks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54880" y="432511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29200" y="432511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collaborators review, validate, and extend the list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4880" y="456285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0" y="4562856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entries are scored, normed, and documented for publication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79492"/>
            <a:ext cx="9144000" cy="685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491032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SIMDADLLC.COM/TASS  |  GITHUB.COM/SIM-DAD/TASS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23544"/>
            <a:ext cx="91440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RELEASE TIMELINE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1353312"/>
            <a:ext cx="50292" cy="4572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353312"/>
            <a:ext cx="8211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spc="-3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FOR THE LONG RUN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8412480" cy="290779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4904" y="1929384"/>
            <a:ext cx="2785872" cy="2889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" y="2121408"/>
            <a:ext cx="2511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spc="-1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</a:t>
            </a:r>
            <a:pPr algn="l" indent="0" marL="0">
              <a:buNone/>
            </a:pPr>
            <a:r>
              <a:rPr lang="en-US" sz="4200" b="1" spc="-100" kern="0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1.0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557784" y="2852928"/>
            <a:ext cx="2511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25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SUMMER 2026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57784" y="3090672"/>
            <a:ext cx="2420112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" y="3182112"/>
            <a:ext cx="2511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tool: dictionary analysis, group comparisons, static visualizations, CSV/Excel export, saved projects, license system. Eight third-party dictionaries ship at launch.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79064" y="1929384"/>
            <a:ext cx="2785872" cy="2889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61944" y="2121408"/>
            <a:ext cx="2511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spc="-1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</a:t>
            </a:r>
            <a:pPr algn="l" indent="0" marL="0">
              <a:buNone/>
            </a:pPr>
            <a:r>
              <a:rPr lang="en-US" sz="4200" b="1" spc="-100" kern="0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1.1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3361944" y="2852928"/>
            <a:ext cx="2511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25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 2026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361944" y="3090672"/>
            <a:ext cx="2420112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1944" y="3182112"/>
            <a:ext cx="2511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models (DistilBERT, LDA, NER), custom dictionary import, interactive dashboards, auto-updates, Linux support. TASS-native dictionaries 01–07 ship.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83224" y="1929384"/>
            <a:ext cx="2785872" cy="2889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6104" y="2121408"/>
            <a:ext cx="2511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spc="-1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</a:t>
            </a:r>
            <a:pPr algn="l" indent="0" marL="0">
              <a:buNone/>
            </a:pPr>
            <a:r>
              <a:rPr lang="en-US" sz="4200" b="1" spc="-100" kern="0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2.0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6166104" y="2852928"/>
            <a:ext cx="2511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25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2027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166104" y="3090672"/>
            <a:ext cx="2420112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66104" y="3182112"/>
            <a:ext cx="2511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integration (user API key), cloud-assisted processing for large corpora, Spanish NLP, SQL data connectors. Full 18-dictionary T-Lex library complete.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079492"/>
            <a:ext cx="9144000" cy="685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91032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SIMDADLLC.COM/TASS  |  GITHUB.COM/SIM-DAD/TASS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23544"/>
            <a:ext cx="91440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BUNDLED AT LAUNCH — V1.0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DICTIONARY LIBRARY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1353312"/>
            <a:ext cx="50292" cy="4572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353312"/>
            <a:ext cx="8211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spc="-3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COMMERCIALLY-LICENSED DICTIONARIES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8412480" cy="329184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56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2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DICTIONARY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291840" y="18562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25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858000" y="18562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25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65760" y="2157984"/>
            <a:ext cx="8412480" cy="3246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57984"/>
            <a:ext cx="2743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AFINN-165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91840" y="2157984"/>
            <a:ext cx="34747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valence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0" y="2157984"/>
            <a:ext cx="19202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482596"/>
            <a:ext cx="8412480" cy="324612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482596"/>
            <a:ext cx="2743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VADER Lexicon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91840" y="2482596"/>
            <a:ext cx="34747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valence + intensity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0" y="2482596"/>
            <a:ext cx="19202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807208"/>
            <a:ext cx="8412480" cy="3246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807208"/>
            <a:ext cx="2743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Moral Foundations Dictionary 2.0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91840" y="2807208"/>
            <a:ext cx="34747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Care, Fairness, Loyalty, Authority, Purity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0" y="2807208"/>
            <a:ext cx="19202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CC-BY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131820"/>
            <a:ext cx="8412480" cy="324612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131820"/>
            <a:ext cx="2743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Brysbaert Concreteness Norms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91840" y="3131820"/>
            <a:ext cx="34747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Concreteness ratings (~40k words)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58000" y="3131820"/>
            <a:ext cx="19202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CC-BY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456432"/>
            <a:ext cx="8412480" cy="3246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456432"/>
            <a:ext cx="2743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HurtLex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91840" y="3456432"/>
            <a:ext cx="34747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Hurtful and offensive language by category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58000" y="3456432"/>
            <a:ext cx="19202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CC-BY-SA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3781044"/>
            <a:ext cx="8412480" cy="324612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781044"/>
            <a:ext cx="2743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WordNet 3.1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91840" y="3781044"/>
            <a:ext cx="34747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English lexicon + part-of-speech tags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58000" y="3781044"/>
            <a:ext cx="19202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Princeton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4105656"/>
            <a:ext cx="8412480" cy="3246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105656"/>
            <a:ext cx="2743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NLTK Stopwords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91840" y="4105656"/>
            <a:ext cx="34747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words, pronouns, prepositions, articles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58000" y="4105656"/>
            <a:ext cx="19202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2.0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4430268"/>
            <a:ext cx="8412480" cy="324612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430268"/>
            <a:ext cx="2743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SentiWordNet 3.0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291840" y="4430268"/>
            <a:ext cx="34747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Synset-level positive / negative / objective scores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858000" y="4430268"/>
            <a:ext cx="19202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CC-BY-SA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5079492"/>
            <a:ext cx="9144000" cy="685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491032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SIMDADLLC.COM/TASS  |  GITHUB.COM/SIM-DAD/TASS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10912"/>
            <a:ext cx="91440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8344"/>
            <a:ext cx="9144000" cy="105156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350" kern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INTEREST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5943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spc="-15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THE T</a:t>
            </a:r>
            <a:pPr algn="l" indent="0" marL="0">
              <a:buNone/>
            </a:pPr>
            <a:r>
              <a:rPr lang="en-US" sz="5600" b="1" spc="-150" kern="0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</a:t>
            </a:r>
            <a:pPr algn="l" indent="0" marL="0">
              <a:buNone/>
            </a:pPr>
            <a:r>
              <a:rPr lang="en-US" sz="5600" b="1" spc="-15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LEX</a:t>
            </a:r>
            <a:endParaRPr lang="en-US" sz="5600" dirty="0"/>
          </a:p>
          <a:p>
            <a:pPr algn="l" indent="0" marL="0">
              <a:buNone/>
            </a:pPr>
            <a:r>
              <a:rPr lang="en-US" sz="5600" b="1" spc="-15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interest form at simdadllc.com/tass. We will follow up with detail on timeline, process, and the specific dictionaries you are best suited to contribute to.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—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3520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Peer-reviewed co-authorship on your dictionary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3831336"/>
            <a:ext cx="507492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849624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—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384962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Open-access impact — your lexicon used and cited worldwide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07492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178808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—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41788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Asynchronous and self-paced, no minimum commitment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4489704"/>
            <a:ext cx="507492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572000"/>
            <a:ext cx="2560320" cy="3474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59028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SIMDADLLC.COM/TASS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949440" y="1188720"/>
            <a:ext cx="1737360" cy="3200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122529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2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PRE-RELEASE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6949440" y="1600200"/>
            <a:ext cx="1737360" cy="292608"/>
          </a:xfrm>
          <a:prstGeom prst="rect">
            <a:avLst/>
          </a:prstGeom>
          <a:solidFill>
            <a:srgbClr val="0A0A0A"/>
          </a:solidFill>
          <a:ln w="12700">
            <a:solidFill>
              <a:srgbClr val="5C5C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16276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15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 — SUMMER 2026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411480" y="5038344"/>
            <a:ext cx="832104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15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SIM DAD LLC  |  SIMDADLLC.COM/TASS  |  GITHUB.COM/SIM-DAD/TASS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2026-03-14T18:49:29Z</dcterms:created>
  <dcterms:modified xsi:type="dcterms:W3CDTF">2026-03-14T18:49:29Z</dcterms:modified>
</cp:coreProperties>
</file>